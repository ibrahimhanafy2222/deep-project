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D3B6E"/>
                </a:solidFill>
              </a:defRPr>
            </a:pPr>
            <a:r>
              <a:t>Grammatical Error Correction on C4_200M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Bag-of-Words  -&gt;  LSTM  -&gt;  Attention  -&gt;  Transformer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Abdullah Ahmed (202200206)   |   Ibrahim Hanafy (202200518)</a:t>
            </a:r>
          </a:p>
          <a:p>
            <a:pPr>
              <a:defRPr sz="2000"/>
            </a:pPr>
            <a:r>
              <a:t>CIE 555 - Neural Networks and Deep Learning</a:t>
            </a:r>
          </a:p>
          <a:p>
            <a:pPr>
              <a:defRPr sz="2000"/>
            </a:pPr>
            <a:r>
              <a:t>Instructor: Dr. Ibrahim Swelam   |   TAs: Aya Abdelaziz, Mahmoud Farahat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The Problem: Grammatical Error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Rewrite an ungrammatical sentence into its corrected form.</a:t>
            </a:r>
          </a:p>
          <a:p>
            <a:pPr>
              <a:spcAft>
                <a:spcPts val="800"/>
              </a:spcAft>
              <a:defRPr sz="2200"/>
            </a:pPr>
            <a:r>
              <a:t>Errors: tense, agreement, articles, plurals, punctuation, spelling.</a:t>
            </a:r>
          </a:p>
          <a:p>
            <a:pPr>
              <a:spcAft>
                <a:spcPts val="800"/>
              </a:spcAft>
              <a:defRPr sz="2200"/>
            </a:pPr>
            <a:r>
              <a:t>The output is a whole new sentence - a sequence-to-sequence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Input:  "She go to school yesterday and learning many thing."</a:t>
            </a:r>
            <a:br/>
            <a:r>
              <a:t>Output: "She went to school yesterday and learned many things."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The Data: C4_200M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Clean web text automatically corrupted into (corrupted, clean) pairs.</a:t>
            </a:r>
          </a:p>
          <a:p>
            <a:pPr>
              <a:spcAft>
                <a:spcPts val="800"/>
              </a:spcAft>
              <a:defRPr sz="2200"/>
            </a:pPr>
            <a:r>
              <a:t>Train: 850,000   Validation: 50,000   Test: 100,000   (Total 1,000,000)</a:t>
            </a:r>
          </a:p>
          <a:p>
            <a:pPr>
              <a:spcAft>
                <a:spcPts val="800"/>
              </a:spcAft>
              <a:defRPr sz="2200"/>
            </a:pPr>
            <a:r>
              <a:t>16k Byte-Level BPE tokenizer; max length 64 tokens.</a:t>
            </a:r>
          </a:p>
          <a:p>
            <a:pPr>
              <a:spcAft>
                <a:spcPts val="800"/>
              </a:spcAft>
              <a:defRPr sz="2200"/>
            </a:pPr>
            <a:r>
              <a:t>Same splits and tokenizer for every model - no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Four Models of Increasing Power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023360"/>
                <a:gridCol w="5486400"/>
              </a:tblGrid>
              <a:tr h="585216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What it adds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Bag-of-Words (TF-IDF)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Baseline - only detects errors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LSTM encoder-decoder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First corrector; fixed-size bottleneck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LSTM + Bahdanau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Decoder re-queries the full source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Self-attention; no recurrence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Model 1 detects.  Models 2-4 correct.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Model 1 - Bag-of-Words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Each pair -&gt; two samples: corrupted = ungrammatical (0), clean = grammatical (1).</a:t>
            </a:r>
          </a:p>
          <a:p>
            <a:pPr>
              <a:spcAft>
                <a:spcPts val="800"/>
              </a:spcAft>
              <a:defRPr sz="2200"/>
            </a:pPr>
            <a:r>
              <a:t>Features: TF-IDF, unigrams + bigrams, 50k vocab (fit on train only).</a:t>
            </a:r>
          </a:p>
          <a:p>
            <a:pPr>
              <a:spcAft>
                <a:spcPts val="800"/>
              </a:spcAft>
              <a:defRPr sz="2200"/>
            </a:pPr>
            <a:r>
              <a:t>Classifiers: Logistic Regression and Linear SVM.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Result: ~62% detection accuracy - barely above 50% chance. Surface word statistics cannot solve GEC -&gt; need seq2seq.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Model 2 - LSTM Encoder-Decoder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BiLSTM encoder compresses the input into ONE 512-dim state.</a:t>
            </a:r>
          </a:p>
          <a:p>
            <a:pPr>
              <a:spcAft>
                <a:spcPts val="800"/>
              </a:spcAft>
              <a:defRPr sz="2200"/>
            </a:pPr>
            <a:r>
              <a:t>LSTM decoder generates the correction token by token.</a:t>
            </a:r>
          </a:p>
          <a:p>
            <a:pPr>
              <a:spcAft>
                <a:spcPts val="800"/>
              </a:spcAft>
              <a:defRPr sz="2200"/>
            </a:pPr>
            <a:r>
              <a:t>Teacher forcing 1.0 -&gt; 0.5; 19.55M parameters; 3 epochs.</a:t>
            </a:r>
          </a:p>
          <a:p>
            <a:pPr>
              <a:spcAft>
                <a:spcPts val="800"/>
              </a:spcAft>
              <a:defRPr sz="2200"/>
            </a:pPr>
            <a:r>
              <a:t>Test GLEU 0.213 (greedy) - the weakest corrector.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The bottleneck: after the first step the decoder never sees the source again - everything is squeezed into 512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Model 3 - LSTM + Bahdanau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Keep ALL encoder states; the decoder attends to them every step.</a:t>
            </a:r>
          </a:p>
          <a:p>
            <a:pPr>
              <a:spcAft>
                <a:spcPts val="800"/>
              </a:spcAft>
              <a:defRPr sz="2200"/>
            </a:pPr>
            <a:r>
              <a:t>score(s,h) = v.tanh(W.s + W.h)  -&gt;  alpha = softmax  -&gt;  context = sum(alpha_i . h_i).</a:t>
            </a:r>
          </a:p>
          <a:p>
            <a:pPr>
              <a:spcAft>
                <a:spcPts val="800"/>
              </a:spcAft>
              <a:defRPr sz="2200"/>
            </a:pPr>
            <a:r>
              <a:t>Removes the bottleneck; alignment weights are interpretable.</a:t>
            </a:r>
          </a:p>
          <a:p>
            <a:pPr>
              <a:spcAft>
                <a:spcPts val="800"/>
              </a:spcAft>
              <a:defRPr sz="2200"/>
            </a:pPr>
            <a:r>
              <a:t>Padding masked with -inf before softmax. 29.06M parameters.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The decisive jump: GLEU 0.213 -&gt; 0.599 (+0.386). Attention matters most.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Model 4 -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No recurrence - self-attention only.</a:t>
            </a:r>
          </a:p>
          <a:p>
            <a:pPr>
              <a:spcAft>
                <a:spcPts val="800"/>
              </a:spcAft>
              <a:defRPr sz="2200"/>
            </a:pPr>
            <a:r>
              <a:t>d_model 256, 8 heads, 3+3 layers, FFN 512.</a:t>
            </a:r>
          </a:p>
          <a:p>
            <a:pPr>
              <a:spcAft>
                <a:spcPts val="800"/>
              </a:spcAft>
              <a:defRPr sz="2200"/>
            </a:pPr>
            <a:r>
              <a:t>Sinusoidal positional encoding; causal mask in the decoder.</a:t>
            </a:r>
          </a:p>
          <a:p>
            <a:pPr>
              <a:spcAft>
                <a:spcPts val="800"/>
              </a:spcAft>
              <a:defRPr sz="2200"/>
            </a:pPr>
            <a:r>
              <a:t>Label smoothing 0.1; warmup learning rate; weight tying.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Smallest and strongest: only 8.05M parameters (3.6x fewer than Model 3). Best validation GLEU 0.613.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Comparative Results - Test 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</a:tblGrid>
              <a:tr h="47026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Decoding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EM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GLEU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LSTM (no attention)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19.55M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0.213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LSTM (no attention)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beam-4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19.55M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0.256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LSTM + Bahdanau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29.06M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0.599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LSTM + Bahdanau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beam-4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29.06M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0.618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0.618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beam-4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800">
                <a:solidFill>
                  <a:srgbClr val="1D3B6E"/>
                </a:solidFill>
              </a:defRPr>
            </a:pPr>
            <a:r>
              <a:t>Beam search helps the LSTM, not the well-calibrated Transformer. Transformer ties Model 3 on GLEU with 3.6x fewer parameters.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Attention Is Interpretable</a:t>
            </a:r>
          </a:p>
        </p:txBody>
      </p:sp>
      <p:pic>
        <p:nvPicPr>
          <p:cNvPr id="3" name="Picture 2" descr="att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669792" cy="3931920"/>
          </a:xfrm>
          <a:prstGeom prst="rect">
            <a:avLst/>
          </a:prstGeom>
        </p:spPr>
      </p:pic>
      <p:pic>
        <p:nvPicPr>
          <p:cNvPr id="4" name="Picture 3" descr="enc_self_attn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4234375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8640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800">
                <a:solidFill>
                  <a:srgbClr val="1D3B6E"/>
                </a:solidFill>
              </a:defRPr>
            </a:pPr>
            <a:r>
              <a:t>Left: Bahdanau decoder alignment.  Right: Transformer encoder self-attention.  Bright cells = focused source token.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Behaviour by Sentence Length</a:t>
            </a:r>
          </a:p>
        </p:txBody>
      </p:sp>
      <p:pic>
        <p:nvPicPr>
          <p:cNvPr id="3" name="Picture 2" descr="length_buckete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704088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57784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800">
                <a:solidFill>
                  <a:srgbClr val="1D3B6E"/>
                </a:solidFill>
              </a:defRPr>
            </a:pPr>
            <a:r>
              <a:t>All models do best on short sentences; the bottleneck LSTM degrades fastest as sentences get longer.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Grammar-Rule Analysis of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Learned well (local syntax):</a:t>
            </a:r>
          </a:p>
          <a:p>
            <a:pPr lvl="1">
              <a:spcAft>
                <a:spcPts val="800"/>
              </a:spcAft>
              <a:defRPr sz="1800"/>
            </a:pPr>
            <a:r>
              <a:t>Subject-verb agreement: "What are this job" -&gt; "What is this job"</a:t>
            </a:r>
          </a:p>
          <a:p>
            <a:pPr lvl="1">
              <a:spcAft>
                <a:spcPts val="800"/>
              </a:spcAft>
              <a:defRPr sz="1800"/>
            </a:pPr>
            <a:r>
              <a:t>Articles: "Why new record" -&gt; "Why the new record"</a:t>
            </a:r>
          </a:p>
          <a:p>
            <a:pPr lvl="1">
              <a:spcAft>
                <a:spcPts val="800"/>
              </a:spcAft>
              <a:defRPr sz="1800"/>
            </a:pPr>
            <a:r>
              <a:t>Verb tense, punctuation, spacing.</a:t>
            </a:r>
          </a:p>
          <a:p>
            <a:pPr>
              <a:spcAft>
                <a:spcPts val="800"/>
              </a:spcAft>
              <a:defRPr sz="2200"/>
            </a:pPr>
            <a:r>
              <a:t>Still hard:</a:t>
            </a:r>
          </a:p>
          <a:p>
            <a:pPr lvl="1">
              <a:spcAft>
                <a:spcPts val="800"/>
              </a:spcAft>
              <a:defRPr sz="1800"/>
            </a:pPr>
            <a:r>
              <a:t>Long-range / semantic edits; rare-word spelling (hallucination).</a:t>
            </a:r>
          </a:p>
          <a:p>
            <a:pPr lvl="1">
              <a:spcAft>
                <a:spcPts val="800"/>
              </a:spcAft>
              <a:defRPr sz="1800"/>
            </a:pPr>
            <a:r>
              <a:t>Dominant failure = under-correction: copying the source unchanged.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The Final Challenge - Dataset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Why does EVERY model score only ~2% exact match?</a:t>
            </a:r>
          </a:p>
          <a:p>
            <a:pPr>
              <a:spcAft>
                <a:spcPts val="800"/>
              </a:spcAft>
              <a:defRPr sz="2200"/>
            </a:pPr>
            <a:r>
              <a:t>Reference quality is the ceiling - not model capacity:</a:t>
            </a:r>
          </a:p>
          <a:p>
            <a:pPr lvl="1">
              <a:spcAft>
                <a:spcPts val="800"/>
              </a:spcAft>
              <a:defRPr sz="1800"/>
            </a:pPr>
            <a:r>
              <a:t>References are paraphrases: "informed"-&gt;"suggest", "startups"-&gt;"start-ups" - not grammar errors.</a:t>
            </a:r>
          </a:p>
          <a:p>
            <a:pPr lvl="1">
              <a:spcAft>
                <a:spcPts val="800"/>
              </a:spcAft>
              <a:defRPr sz="1800"/>
            </a:pPr>
            <a:r>
              <a:t>References can be noisy: target "no brain worky" - not a word.</a:t>
            </a:r>
          </a:p>
          <a:p>
            <a:pPr lvl="1">
              <a:spcAft>
                <a:spcPts val="800"/>
              </a:spcAft>
              <a:defRPr sz="1800"/>
            </a:pPr>
            <a:r>
              <a:t>Many valid corrections exist; exact match credits exactly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900">
                <a:solidFill>
                  <a:srgbClr val="1D3B6E"/>
                </a:solidFill>
              </a:defRPr>
            </a:pPr>
            <a:r>
              <a:t>Report GLEU / F0.5, not exact match. Cleaner data would help more than a bigger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BoW detects grammaticality at ~62% - cannot correct.</a:t>
            </a:r>
          </a:p>
          <a:p>
            <a:pPr>
              <a:spcAft>
                <a:spcPts val="800"/>
              </a:spcAft>
              <a:defRPr sz="2200"/>
            </a:pPr>
            <a:r>
              <a:t>LSTM corrects but is limited by the bottleneck (GLEU 0.213).</a:t>
            </a:r>
          </a:p>
          <a:p>
            <a:pPr>
              <a:spcAft>
                <a:spcPts val="800"/>
              </a:spcAft>
              <a:defRPr sz="2200"/>
            </a:pPr>
            <a:r>
              <a:t>Bahdanau attention is the decisive jump (GLEU 0.599).</a:t>
            </a:r>
          </a:p>
          <a:p>
            <a:pPr>
              <a:spcAft>
                <a:spcPts val="800"/>
              </a:spcAft>
              <a:defRPr sz="2200"/>
            </a:pPr>
            <a:r>
              <a:t>Transformer ties on GLEU (0.618) with 3.6x fewer params; best validation GLEU 0.613.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Key insight: the binding constraint is dataset quality, not architecture - synthetic C4_200M references are often paraphrases or noise.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D3B6E"/>
                </a:solidFill>
              </a:defRPr>
            </a:pPr>
            <a:r>
              <a:t>Thank You</a:t>
            </a:r>
          </a:p>
          <a:p>
            <a:pPr algn="ctr"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