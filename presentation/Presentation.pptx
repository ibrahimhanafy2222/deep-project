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6984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D3B6E"/>
                </a:solidFill>
              </a:defRPr>
            </a:pPr>
            <a:r>
              <a:t>Grammatical Error Correction on C4_200M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9184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Bag-of-Words  -&gt;  LSTM  -&gt;  Attention  -&gt;  Transformer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Abdullah Ahmed (202200206)   |   Ibrahim Hanafy (202200518)</a:t>
            </a:r>
          </a:p>
          <a:p>
            <a:pPr>
              <a:defRPr sz="2000"/>
            </a:pPr>
            <a:r>
              <a:t>CIE 555 - Neural Networks and Deep Learning</a:t>
            </a:r>
          </a:p>
          <a:p>
            <a:pPr>
              <a:defRPr sz="2000"/>
            </a:pPr>
            <a:r>
              <a:t>Instructor: Dr. Ibrahim Swelam   |   TAs: Aya Abdelaziz, Mahmoud Farahat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D3B6E"/>
                </a:solidFill>
              </a:defRPr>
            </a:pPr>
            <a:r>
              <a:t>The Problem: Grammatical Error Correction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Rewrite an ungrammatical sentence into its corrected form.</a:t>
            </a:r>
          </a:p>
          <a:p>
            <a:pPr>
              <a:spcAft>
                <a:spcPts val="800"/>
              </a:spcAft>
              <a:defRPr sz="2200"/>
            </a:pPr>
            <a:r>
              <a:t>Errors: tense, agreement, articles, plurals, punctuation, spelling.</a:t>
            </a:r>
          </a:p>
          <a:p>
            <a:pPr>
              <a:spcAft>
                <a:spcPts val="800"/>
              </a:spcAft>
              <a:defRPr sz="2200"/>
            </a:pPr>
            <a:r>
              <a:t>The output is a whole new sentence - a sequence-to-sequence task.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206240"/>
            <a:ext cx="10698480" cy="1280160"/>
          </a:xfrm>
          <a:prstGeom prst="rect">
            <a:avLst/>
          </a:prstGeom>
          <a:solidFill>
            <a:srgbClr val="EEF2FB"/>
          </a:solidFill>
        </p:spPr>
        <p:txBody>
          <a:bodyPr wrap="square" lIns="182880">
            <a:spAutoFit/>
          </a:bodyPr>
          <a:lstStyle/>
          <a:p>
            <a:pPr>
              <a:defRPr sz="2000">
                <a:solidFill>
                  <a:srgbClr val="1D3B6E"/>
                </a:solidFill>
              </a:defRPr>
            </a:pPr>
            <a:r>
              <a:t>Input:  "She go to school yesterday and learning many thing."</a:t>
            </a:r>
            <a:br/>
            <a:r>
              <a:t>Output: "She went to school yesterday and learned many things."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D3B6E"/>
                </a:solidFill>
              </a:defRPr>
            </a:pPr>
            <a:r>
              <a:t>The Data: C4_200M Subset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Clean web text automatically corrupted into (corrupted, clean) pairs.</a:t>
            </a:r>
          </a:p>
          <a:p>
            <a:pPr>
              <a:spcAft>
                <a:spcPts val="800"/>
              </a:spcAft>
              <a:defRPr sz="2200"/>
            </a:pPr>
            <a:r>
              <a:t>Train: 850,000   Validation: 50,000   Test: 100,000   (Total 1,000,000)</a:t>
            </a:r>
          </a:p>
          <a:p>
            <a:pPr>
              <a:spcAft>
                <a:spcPts val="800"/>
              </a:spcAft>
              <a:defRPr sz="2200"/>
            </a:pPr>
            <a:r>
              <a:t>16k Byte-Level BPE tokenizer; max length 64 tokens.</a:t>
            </a:r>
          </a:p>
          <a:p>
            <a:pPr>
              <a:spcAft>
                <a:spcPts val="800"/>
              </a:spcAft>
              <a:defRPr sz="2200"/>
            </a:pPr>
            <a:r>
              <a:t>Same splits and tokenizer for every model - no data leakage.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D3B6E"/>
                </a:solidFill>
              </a:defRPr>
            </a:pPr>
            <a:r>
              <a:t>Four Models of Increasing Power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554480"/>
          <a:ext cx="103327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4023360"/>
                <a:gridCol w="5486400"/>
              </a:tblGrid>
              <a:tr h="585216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1D3B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D3B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What it adds</a:t>
                      </a:r>
                    </a:p>
                  </a:txBody>
                  <a:tcPr>
                    <a:solidFill>
                      <a:srgbClr val="1D3B6E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Bag-of-Words (TF-IDF)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Baseline - only detects errors</a:t>
                      </a:r>
                    </a:p>
                  </a:txBody>
                  <a:tcPr/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LSTM encoder-decoder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First corrector; fixed-size bottleneck</a:t>
                      </a:r>
                    </a:p>
                  </a:txBody>
                  <a:tcPr/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LSTM + Bahdanau attention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Decoder re-queries the full source</a:t>
                      </a:r>
                    </a:p>
                  </a:txBody>
                  <a:tcPr/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Transformer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Self-attention; no recurrence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4846320"/>
            <a:ext cx="10698480" cy="1280160"/>
          </a:xfrm>
          <a:prstGeom prst="rect">
            <a:avLst/>
          </a:prstGeom>
          <a:solidFill>
            <a:srgbClr val="EEF2FB"/>
          </a:solidFill>
        </p:spPr>
        <p:txBody>
          <a:bodyPr wrap="square" lIns="182880">
            <a:spAutoFit/>
          </a:bodyPr>
          <a:lstStyle/>
          <a:p>
            <a:pPr>
              <a:defRPr sz="2000">
                <a:solidFill>
                  <a:srgbClr val="1D3B6E"/>
                </a:solidFill>
              </a:defRPr>
            </a:pPr>
            <a:r>
              <a:t>Model 1 detects.  Models 2-4 correct.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D3B6E"/>
                </a:solidFill>
              </a:defRPr>
            </a:pPr>
            <a:r>
              <a:t>Model 1 - Bag-of-Words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TF-IDF (unigrams+bigrams, 50k vocab) + Logistic Regression / Linear SVM. Each pair -&gt; corrupted = 0, clean = 1.</a:t>
            </a:r>
          </a:p>
          <a:p>
            <a:pPr>
              <a:spcAft>
                <a:spcPts val="800"/>
              </a:spcAft>
              <a:defRPr sz="2200"/>
            </a:pPr>
            <a:r>
              <a:t>Result: ~62% accuracy - barely above 50% chance. Why so weak? Structural, not bad tuning:</a:t>
            </a:r>
          </a:p>
          <a:p>
            <a:pPr lvl="1">
              <a:spcAft>
                <a:spcPts val="800"/>
              </a:spcAft>
              <a:defRPr sz="1800"/>
            </a:pPr>
            <a:r>
              <a:t>Detector, not corrector - outputs one label, never corrected text.</a:t>
            </a:r>
          </a:p>
          <a:p>
            <a:pPr lvl="1">
              <a:spcAft>
                <a:spcPts val="800"/>
              </a:spcAft>
              <a:defRPr sz="1800"/>
            </a:pPr>
            <a:r>
              <a:t>Bag-of-words discards order - but grammar IS order ("she goes" vs "go she").</a:t>
            </a:r>
          </a:p>
          <a:p>
            <a:pPr lvl="1">
              <a:spcAft>
                <a:spcPts val="800"/>
              </a:spcAft>
              <a:defRPr sz="1800"/>
            </a:pPr>
            <a:r>
              <a:t>Error signal swamped - a 1-word error is invisible next to content-word weights.</a:t>
            </a:r>
          </a:p>
          <a:p>
            <a:pPr lvl="1">
              <a:spcAft>
                <a:spcPts val="800"/>
              </a:spcAft>
              <a:defRPr sz="1800"/>
            </a:pPr>
            <a:r>
              <a:t>No generalisation - only memorises lexical statistics.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846320"/>
            <a:ext cx="10698480" cy="1280160"/>
          </a:xfrm>
          <a:prstGeom prst="rect">
            <a:avLst/>
          </a:prstGeom>
          <a:solidFill>
            <a:srgbClr val="EEF2FB"/>
          </a:solidFill>
        </p:spPr>
        <p:txBody>
          <a:bodyPr wrap="square" lIns="182880">
            <a:spAutoFit/>
          </a:bodyPr>
          <a:lstStyle/>
          <a:p>
            <a:pPr>
              <a:defRPr sz="1800">
                <a:solidFill>
                  <a:srgbClr val="1D3B6E"/>
                </a:solidFill>
              </a:defRPr>
            </a:pPr>
            <a:r>
              <a:t>Proves GEC needs sequence modelling and text generation - which the next three models provide.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D3B6E"/>
                </a:solidFill>
              </a:defRPr>
            </a:pPr>
            <a:r>
              <a:t>Model 2 - LSTM Encoder-Decoder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BiLSTM encoder compresses the input into ONE 512-dim state.</a:t>
            </a:r>
          </a:p>
          <a:p>
            <a:pPr>
              <a:spcAft>
                <a:spcPts val="800"/>
              </a:spcAft>
              <a:defRPr sz="2200"/>
            </a:pPr>
            <a:r>
              <a:t>LSTM decoder generates the correction token by token.</a:t>
            </a:r>
          </a:p>
          <a:p>
            <a:pPr>
              <a:spcAft>
                <a:spcPts val="800"/>
              </a:spcAft>
              <a:defRPr sz="2200"/>
            </a:pPr>
            <a:r>
              <a:t>Teacher forcing 1.0 -&gt; 0.5; 19.55M parameters; 3 epochs.</a:t>
            </a:r>
          </a:p>
          <a:p>
            <a:pPr>
              <a:spcAft>
                <a:spcPts val="800"/>
              </a:spcAft>
              <a:defRPr sz="2200"/>
            </a:pPr>
            <a:r>
              <a:t>Test GLEU 0.213 (greedy) - the weakest corrector.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297680"/>
            <a:ext cx="10698480" cy="1280160"/>
          </a:xfrm>
          <a:prstGeom prst="rect">
            <a:avLst/>
          </a:prstGeom>
          <a:solidFill>
            <a:srgbClr val="EEF2FB"/>
          </a:solidFill>
        </p:spPr>
        <p:txBody>
          <a:bodyPr wrap="square" lIns="182880">
            <a:spAutoFit/>
          </a:bodyPr>
          <a:lstStyle/>
          <a:p>
            <a:pPr>
              <a:defRPr sz="2000">
                <a:solidFill>
                  <a:srgbClr val="1D3B6E"/>
                </a:solidFill>
              </a:defRPr>
            </a:pPr>
            <a:r>
              <a:t>The bottleneck: after the first step the decoder never sees the source again - everything is squeezed into 512 numbers.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D3B6E"/>
                </a:solidFill>
              </a:defRPr>
            </a:pPr>
            <a:r>
              <a:t>Model 3 - LSTM + Bahdanau Attention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Keep ALL encoder states; the decoder attends to them every step.</a:t>
            </a:r>
          </a:p>
          <a:p>
            <a:pPr>
              <a:spcAft>
                <a:spcPts val="800"/>
              </a:spcAft>
              <a:defRPr sz="2200"/>
            </a:pPr>
            <a:r>
              <a:t>score(s,h) = v.tanh(W.s + W.h)  -&gt;  alpha = softmax  -&gt;  context = sum(alpha_i . h_i).</a:t>
            </a:r>
          </a:p>
          <a:p>
            <a:pPr>
              <a:spcAft>
                <a:spcPts val="800"/>
              </a:spcAft>
              <a:defRPr sz="2200"/>
            </a:pPr>
            <a:r>
              <a:t>Removes the bottleneck; alignment weights are interpretable.</a:t>
            </a:r>
          </a:p>
          <a:p>
            <a:pPr>
              <a:spcAft>
                <a:spcPts val="800"/>
              </a:spcAft>
              <a:defRPr sz="2200"/>
            </a:pPr>
            <a:r>
              <a:t>Padding masked with -inf before softmax. 29.06M parameters.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297680"/>
            <a:ext cx="10698480" cy="1280160"/>
          </a:xfrm>
          <a:prstGeom prst="rect">
            <a:avLst/>
          </a:prstGeom>
          <a:solidFill>
            <a:srgbClr val="EEF2FB"/>
          </a:solidFill>
        </p:spPr>
        <p:txBody>
          <a:bodyPr wrap="square" lIns="182880">
            <a:spAutoFit/>
          </a:bodyPr>
          <a:lstStyle/>
          <a:p>
            <a:pPr>
              <a:defRPr sz="2000">
                <a:solidFill>
                  <a:srgbClr val="1D3B6E"/>
                </a:solidFill>
              </a:defRPr>
            </a:pPr>
            <a:r>
              <a:t>The decisive jump: GLEU 0.213 -&gt; 0.599 (+0.386). Attention matters most.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D3B6E"/>
                </a:solidFill>
              </a:defRPr>
            </a:pPr>
            <a:r>
              <a:t>Model 4 - Transformer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No recurrence - self-attention only.</a:t>
            </a:r>
          </a:p>
          <a:p>
            <a:pPr>
              <a:spcAft>
                <a:spcPts val="800"/>
              </a:spcAft>
              <a:defRPr sz="2200"/>
            </a:pPr>
            <a:r>
              <a:t>d_model 256, 8 heads, 3+3 layers, FFN 512.</a:t>
            </a:r>
          </a:p>
          <a:p>
            <a:pPr>
              <a:spcAft>
                <a:spcPts val="800"/>
              </a:spcAft>
              <a:defRPr sz="2200"/>
            </a:pPr>
            <a:r>
              <a:t>Sinusoidal positional encoding; causal mask in the decoder.</a:t>
            </a:r>
          </a:p>
          <a:p>
            <a:pPr>
              <a:spcAft>
                <a:spcPts val="800"/>
              </a:spcAft>
              <a:defRPr sz="2200"/>
            </a:pPr>
            <a:r>
              <a:t>Label smoothing 0.1; warmup learning rate; weight tying.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297680"/>
            <a:ext cx="10698480" cy="1280160"/>
          </a:xfrm>
          <a:prstGeom prst="rect">
            <a:avLst/>
          </a:prstGeom>
          <a:solidFill>
            <a:srgbClr val="EEF2FB"/>
          </a:solidFill>
        </p:spPr>
        <p:txBody>
          <a:bodyPr wrap="square" lIns="182880">
            <a:spAutoFit/>
          </a:bodyPr>
          <a:lstStyle/>
          <a:p>
            <a:pPr>
              <a:defRPr sz="2000">
                <a:solidFill>
                  <a:srgbClr val="1D3B6E"/>
                </a:solidFill>
              </a:defRPr>
            </a:pPr>
            <a:r>
              <a:t>Smallest and strongest: only 8.05M parameters (3.6x fewer than Model 3). Best validation GLEU 0.613.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D3B6E"/>
                </a:solidFill>
              </a:defRPr>
            </a:pPr>
            <a:r>
              <a:t>Comparative Results - Test Set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463040" y="1463040"/>
          <a:ext cx="92354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7088"/>
                <a:gridCol w="1847088"/>
                <a:gridCol w="1847088"/>
                <a:gridCol w="1847088"/>
                <a:gridCol w="1847088"/>
              </a:tblGrid>
              <a:tr h="470262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D3B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Decoding</a:t>
                      </a:r>
                    </a:p>
                  </a:txBody>
                  <a:tcPr>
                    <a:solidFill>
                      <a:srgbClr val="1D3B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Params</a:t>
                      </a:r>
                    </a:p>
                  </a:txBody>
                  <a:tcPr>
                    <a:solidFill>
                      <a:srgbClr val="1D3B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EM</a:t>
                      </a:r>
                    </a:p>
                  </a:txBody>
                  <a:tcPr>
                    <a:solidFill>
                      <a:srgbClr val="1D3B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GLEU</a:t>
                      </a:r>
                    </a:p>
                  </a:txBody>
                  <a:tcPr>
                    <a:solidFill>
                      <a:srgbClr val="1D3B6E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LSTM (no attention)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greedy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19.55M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~0.008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0.213</a:t>
                      </a:r>
                    </a:p>
                  </a:txBody>
                  <a:tcPr/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LSTM (no attention)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beam-4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19.55M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0.256</a:t>
                      </a:r>
                    </a:p>
                  </a:txBody>
                  <a:tcPr/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LSTM + Bahdanau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greedy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29.06M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0.024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0.599</a:t>
                      </a:r>
                    </a:p>
                  </a:txBody>
                  <a:tcPr/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LSTM + Bahdanau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beam-4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29.06M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0.026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0.618</a:t>
                      </a:r>
                    </a:p>
                  </a:txBody>
                  <a:tcPr/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Transformer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greedy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8.05M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0.022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0.618</a:t>
                      </a:r>
                    </a:p>
                  </a:txBody>
                  <a:tcPr/>
                </a:tc>
              </a:tr>
              <a:tr h="470268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Transformer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beam-4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8.05M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0.020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0.618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4937760"/>
            <a:ext cx="10698480" cy="1280160"/>
          </a:xfrm>
          <a:prstGeom prst="rect">
            <a:avLst/>
          </a:prstGeom>
          <a:solidFill>
            <a:srgbClr val="EEF2FB"/>
          </a:solidFill>
        </p:spPr>
        <p:txBody>
          <a:bodyPr wrap="square" lIns="182880">
            <a:spAutoFit/>
          </a:bodyPr>
          <a:lstStyle/>
          <a:p>
            <a:pPr>
              <a:defRPr sz="1800">
                <a:solidFill>
                  <a:srgbClr val="1D3B6E"/>
                </a:solidFill>
              </a:defRPr>
            </a:pPr>
            <a:r>
              <a:t>Beam search helps the LSTM, not the well-calibrated Transformer. Transformer ties Model 3 on GLEU with 3.6x fewer parameters.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D3B6E"/>
                </a:solidFill>
              </a:defRPr>
            </a:pPr>
            <a:r>
              <a:t>Attention Is Interpretable</a:t>
            </a:r>
          </a:p>
        </p:txBody>
      </p:sp>
      <p:pic>
        <p:nvPicPr>
          <p:cNvPr id="3" name="Picture 2" descr="attn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157728" cy="3383280"/>
          </a:xfrm>
          <a:prstGeom prst="rect">
            <a:avLst/>
          </a:prstGeom>
        </p:spPr>
      </p:pic>
      <p:pic>
        <p:nvPicPr>
          <p:cNvPr id="4" name="Picture 3" descr="enc_self_attn_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371600"/>
            <a:ext cx="3643532" cy="3383280"/>
          </a:xfrm>
          <a:prstGeom prst="rect">
            <a:avLst/>
          </a:prstGeom>
        </p:spPr>
      </p:pic>
      <p:pic>
        <p:nvPicPr>
          <p:cNvPr id="5" name="Picture 4" descr="dec_cross_attn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1371600"/>
            <a:ext cx="3157728" cy="3383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029200"/>
            <a:ext cx="10698480" cy="1280160"/>
          </a:xfrm>
          <a:prstGeom prst="rect">
            <a:avLst/>
          </a:prstGeom>
          <a:solidFill>
            <a:srgbClr val="EEF2FB"/>
          </a:solidFill>
        </p:spPr>
        <p:txBody>
          <a:bodyPr wrap="square" lIns="182880">
            <a:spAutoFit/>
          </a:bodyPr>
          <a:lstStyle/>
          <a:p>
            <a:pPr>
              <a:defRPr sz="1700">
                <a:solidFill>
                  <a:srgbClr val="1D3B6E"/>
                </a:solidFill>
              </a:defRPr>
            </a:pPr>
            <a:r>
              <a:t>Bahdanau decoder alignment | Transformer encoder self-attention | Transformer decoder cross-attention. Bahdanau and Transformer cross-attention learn visually similar source-to-output alignments.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D3B6E"/>
                </a:solidFill>
              </a:defRPr>
            </a:pPr>
            <a:r>
              <a:t>Behaviour by Sentence Length</a:t>
            </a:r>
          </a:p>
        </p:txBody>
      </p:sp>
      <p:pic>
        <p:nvPicPr>
          <p:cNvPr id="3" name="Picture 2" descr="three_way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1371600"/>
            <a:ext cx="6217920" cy="3108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466344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Bottleneck LSTM (blue) collapses to ~0 on medium/long sentences.</a:t>
            </a:r>
          </a:p>
          <a:p>
            <a:pPr>
              <a:spcAft>
                <a:spcPts val="800"/>
              </a:spcAft>
              <a:defRPr sz="1800"/>
            </a:pPr>
            <a:r>
              <a:t>Bahdanau and Transformer stay non-zero - attention prevents the collapse.</a:t>
            </a:r>
          </a:p>
          <a:p>
            <a:pPr>
              <a:spcAft>
                <a:spcPts val="800"/>
              </a:spcAft>
              <a:defRPr sz="1800"/>
            </a:pPr>
            <a:r>
              <a:t>Crossover: Transformer (green) overtakes Bahdanau (orange) on the LONG bucket - its O(1) path helps most there.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D3B6E"/>
                </a:solidFill>
              </a:defRPr>
            </a:pPr>
            <a:r>
              <a:t>Worked Example - The Three Correctors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900"/>
            </a:pPr>
            <a:r>
              <a:t>Short sentence (insert a missing article):</a:t>
            </a:r>
          </a:p>
          <a:p>
            <a:pPr>
              <a:defRPr b="0" sz="1600">
                <a:latin typeface="Consolas"/>
              </a:defRPr>
            </a:pPr>
            <a:r>
              <a:t>SRC : Why new record is taking so long.</a:t>
            </a:r>
          </a:p>
          <a:p>
            <a:pPr>
              <a:defRPr b="0" sz="1600">
                <a:latin typeface="Consolas"/>
              </a:defRPr>
            </a:pPr>
            <a:r>
              <a:t>REF : Why the new record is taking so long.</a:t>
            </a:r>
          </a:p>
          <a:p>
            <a:pPr>
              <a:defRPr b="0" sz="1600">
                <a:latin typeface="Consolas"/>
              </a:defRPr>
            </a:pPr>
            <a:r>
              <a:t>P3  : Why new record is taking so long.    LSTM   - no edit (copies)</a:t>
            </a:r>
          </a:p>
          <a:p>
            <a:pPr>
              <a:defRPr b="0" sz="1600">
                <a:latin typeface="Consolas"/>
              </a:defRPr>
            </a:pPr>
            <a:r>
              <a:t>P4  : Why a new record is taking so long.  Bahd.  - inserts article 'a'</a:t>
            </a:r>
          </a:p>
          <a:p>
            <a:pPr>
              <a:defRPr b="0" sz="1600">
                <a:latin typeface="Consolas"/>
              </a:defRPr>
            </a:pPr>
            <a:r>
              <a:t>P5  : Why new record is taking so long?    Trans. - '.' -&gt; '?'</a:t>
            </a:r>
          </a:p>
          <a:p>
            <a:pPr>
              <a:defRPr b="0" sz="1600"/>
            </a:pPr>
          </a:p>
          <a:p>
            <a:pPr>
              <a:defRPr b="1" sz="1900"/>
            </a:pPr>
            <a:r>
              <a:t>Long, noisy sentence:</a:t>
            </a:r>
          </a:p>
          <a:p>
            <a:pPr>
              <a:defRPr b="0" sz="1600">
                <a:latin typeface="Consolas"/>
              </a:defRPr>
            </a:pPr>
            <a:r>
              <a:t>P3 : '...cpue to buy and/indukine stead...'  hallucinated nonsense</a:t>
            </a:r>
          </a:p>
          <a:p>
            <a:pPr>
              <a:defRPr b="0" sz="1600">
                <a:latin typeface="Consolas"/>
              </a:defRPr>
            </a:pPr>
            <a:r>
              <a:t>P4 : copies source, corrupts the URL</a:t>
            </a:r>
          </a:p>
          <a:p>
            <a:pPr>
              <a:defRPr b="0" sz="1600">
                <a:latin typeface="Consolas"/>
              </a:defRPr>
            </a:pPr>
            <a:r>
              <a:t>P5 : copies source, fixes 'got' -&gt; 'get'     the one real fix</a:t>
            </a:r>
          </a:p>
          <a:p>
            <a:pPr>
              <a:defRPr b="0" sz="1600"/>
            </a:pPr>
          </a:p>
          <a:p>
            <a:pPr>
              <a:defRPr b="1" sz="1900"/>
            </a:pPr>
            <a:r>
              <a:t>LSTM collapses on long input; P4 and P5 differ by only 1-2 tokens.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D3B6E"/>
                </a:solidFill>
              </a:defRPr>
            </a:pPr>
            <a:r>
              <a:t>Why Bahdanau LSTM ~ Transformer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Test GLEU is tied at 0.618. The Transformer matches, not beats:</a:t>
            </a:r>
          </a:p>
          <a:p>
            <a:pPr lvl="1">
              <a:spcAft>
                <a:spcPts val="800"/>
              </a:spcAft>
              <a:defRPr sz="1800"/>
            </a:pPr>
            <a:r>
              <a:t>Decisive feature is shared - both have full source access via attention (the +0.386 jump). LSTM-vs-self-attention is second-order.</a:t>
            </a:r>
          </a:p>
          <a:p>
            <a:pPr lvl="1">
              <a:spcAft>
                <a:spcPts val="800"/>
              </a:spcAft>
              <a:defRPr sz="1800"/>
            </a:pPr>
            <a:r>
              <a:t>Both hit the data ceiling - same budget, same noisy C4_200M references -&gt; both converge to GLEU ~0.62.</a:t>
            </a:r>
          </a:p>
          <a:p>
            <a:pPr lvl="1">
              <a:spcAft>
                <a:spcPts val="800"/>
              </a:spcAft>
              <a:defRPr sz="1800"/>
            </a:pPr>
            <a:r>
              <a:t>Sentences are mostly short - the O(1) path only helps long-range dependencies (see the crossover).</a:t>
            </a:r>
          </a:p>
          <a:p>
            <a:pPr lvl="1">
              <a:spcAft>
                <a:spcPts val="800"/>
              </a:spcAft>
              <a:defRPr sz="1800"/>
            </a:pPr>
            <a:r>
              <a:t>On hard inputs both just copy - outputs differ by 1-2 tokens.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0"/>
            <a:ext cx="10698480" cy="1280160"/>
          </a:xfrm>
          <a:prstGeom prst="rect">
            <a:avLst/>
          </a:prstGeom>
          <a:solidFill>
            <a:srgbClr val="EEF2FB"/>
          </a:solidFill>
        </p:spPr>
        <p:txBody>
          <a:bodyPr wrap="square" lIns="182880">
            <a:spAutoFit/>
          </a:bodyPr>
          <a:lstStyle/>
          <a:p>
            <a:pPr>
              <a:defRPr sz="1800">
                <a:solidFill>
                  <a:srgbClr val="1D3B6E"/>
                </a:solidFill>
              </a:defRPr>
            </a:pPr>
            <a:r>
              <a:t>The real win is efficiency: same quality with 8.05M params vs 29.06M (3.6x fewer) + faster parallel training - it would pull ahead with more data or cleaner references.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D3B6E"/>
                </a:solidFill>
              </a:defRPr>
            </a:pPr>
            <a:r>
              <a:t>Grammar-Rule Analysis of Outputs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Learned well (local syntax):</a:t>
            </a:r>
          </a:p>
          <a:p>
            <a:pPr lvl="1">
              <a:spcAft>
                <a:spcPts val="800"/>
              </a:spcAft>
              <a:defRPr sz="1800"/>
            </a:pPr>
            <a:r>
              <a:t>Subject-verb agreement: "What are this job" -&gt; "What is this job"</a:t>
            </a:r>
          </a:p>
          <a:p>
            <a:pPr lvl="1">
              <a:spcAft>
                <a:spcPts val="800"/>
              </a:spcAft>
              <a:defRPr sz="1800"/>
            </a:pPr>
            <a:r>
              <a:t>Articles: "Why new record" -&gt; "Why the new record"</a:t>
            </a:r>
          </a:p>
          <a:p>
            <a:pPr lvl="1">
              <a:spcAft>
                <a:spcPts val="800"/>
              </a:spcAft>
              <a:defRPr sz="1800"/>
            </a:pPr>
            <a:r>
              <a:t>Verb tense, punctuation, spacing.</a:t>
            </a:r>
          </a:p>
          <a:p>
            <a:pPr>
              <a:spcAft>
                <a:spcPts val="800"/>
              </a:spcAft>
              <a:defRPr sz="2200"/>
            </a:pPr>
            <a:r>
              <a:t>Still hard:</a:t>
            </a:r>
          </a:p>
          <a:p>
            <a:pPr lvl="1">
              <a:spcAft>
                <a:spcPts val="800"/>
              </a:spcAft>
              <a:defRPr sz="1800"/>
            </a:pPr>
            <a:r>
              <a:t>Long-range / semantic edits; rare-word spelling (hallucination).</a:t>
            </a:r>
          </a:p>
          <a:p>
            <a:pPr lvl="1">
              <a:spcAft>
                <a:spcPts val="800"/>
              </a:spcAft>
              <a:defRPr sz="1800"/>
            </a:pPr>
            <a:r>
              <a:t>Dominant failure = under-correction: copying the source unchanged.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D3B6E"/>
                </a:solidFill>
              </a:defRPr>
            </a:pPr>
            <a:r>
              <a:t>The Final Challenge - Dataset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Why does EVERY model score only ~2% exact match?</a:t>
            </a:r>
          </a:p>
          <a:p>
            <a:pPr>
              <a:spcAft>
                <a:spcPts val="800"/>
              </a:spcAft>
              <a:defRPr sz="2200"/>
            </a:pPr>
            <a:r>
              <a:t>Reference quality is the ceiling - not model capacity:</a:t>
            </a:r>
          </a:p>
          <a:p>
            <a:pPr lvl="1">
              <a:spcAft>
                <a:spcPts val="800"/>
              </a:spcAft>
              <a:defRPr sz="1800"/>
            </a:pPr>
            <a:r>
              <a:t>References are paraphrases: "informed"-&gt;"suggest", "startups"-&gt;"start-ups" - not grammar errors.</a:t>
            </a:r>
          </a:p>
          <a:p>
            <a:pPr lvl="1">
              <a:spcAft>
                <a:spcPts val="800"/>
              </a:spcAft>
              <a:defRPr sz="1800"/>
            </a:pPr>
            <a:r>
              <a:t>References can be noisy: target "no brain worky" - not a word.</a:t>
            </a:r>
          </a:p>
          <a:p>
            <a:pPr lvl="1">
              <a:spcAft>
                <a:spcPts val="800"/>
              </a:spcAft>
              <a:defRPr sz="1800"/>
            </a:pPr>
            <a:r>
              <a:t>Many valid corrections exist; exact match credits exactly one.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846320"/>
            <a:ext cx="10698480" cy="1280160"/>
          </a:xfrm>
          <a:prstGeom prst="rect">
            <a:avLst/>
          </a:prstGeom>
          <a:solidFill>
            <a:srgbClr val="EEF2FB"/>
          </a:solidFill>
        </p:spPr>
        <p:txBody>
          <a:bodyPr wrap="square" lIns="182880">
            <a:spAutoFit/>
          </a:bodyPr>
          <a:lstStyle/>
          <a:p>
            <a:pPr>
              <a:defRPr sz="1900">
                <a:solidFill>
                  <a:srgbClr val="1D3B6E"/>
                </a:solidFill>
              </a:defRPr>
            </a:pPr>
            <a:r>
              <a:t>Report GLEU / F0.5, not exact match. Cleaner data would help more than a bigger model.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D3B6E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BoW detects grammaticality at ~62% - cannot correct.</a:t>
            </a:r>
          </a:p>
          <a:p>
            <a:pPr>
              <a:spcAft>
                <a:spcPts val="800"/>
              </a:spcAft>
              <a:defRPr sz="2200"/>
            </a:pPr>
            <a:r>
              <a:t>LSTM corrects but is limited by the bottleneck (GLEU 0.213).</a:t>
            </a:r>
          </a:p>
          <a:p>
            <a:pPr>
              <a:spcAft>
                <a:spcPts val="800"/>
              </a:spcAft>
              <a:defRPr sz="2200"/>
            </a:pPr>
            <a:r>
              <a:t>Bahdanau attention is the decisive jump (GLEU 0.599).</a:t>
            </a:r>
          </a:p>
          <a:p>
            <a:pPr>
              <a:spcAft>
                <a:spcPts val="800"/>
              </a:spcAft>
              <a:defRPr sz="2200"/>
            </a:pPr>
            <a:r>
              <a:t>Transformer ties on GLEU (0.618) with 3.6x fewer params; best validation GLEU 0.613.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297680"/>
            <a:ext cx="10698480" cy="1280160"/>
          </a:xfrm>
          <a:prstGeom prst="rect">
            <a:avLst/>
          </a:prstGeom>
          <a:solidFill>
            <a:srgbClr val="EEF2FB"/>
          </a:solidFill>
        </p:spPr>
        <p:txBody>
          <a:bodyPr wrap="square" lIns="182880">
            <a:spAutoFit/>
          </a:bodyPr>
          <a:lstStyle/>
          <a:p>
            <a:pPr>
              <a:defRPr sz="2000">
                <a:solidFill>
                  <a:srgbClr val="1D3B6E"/>
                </a:solidFill>
              </a:defRPr>
            </a:pPr>
            <a:r>
              <a:t>Key insight: the binding constraint is dataset quality, not architecture - synthetic C4_200M references are often paraphrases or noise.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106984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D3B6E"/>
                </a:solidFill>
              </a:defRPr>
            </a:pPr>
            <a:r>
              <a:t>Thank You</a:t>
            </a:r>
          </a:p>
          <a:p>
            <a:pPr algn="ctr">
              <a:defRPr sz="2400"/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